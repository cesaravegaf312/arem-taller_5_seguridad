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4" name="Shape 2"/>
          <p:cNvSpPr/>
          <p:nvPr/>
        </p:nvSpPr>
        <p:spPr>
          <a:xfrm>
            <a:off x="680314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0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6" name="Shape 4"/>
          <p:cNvSpPr/>
          <p:nvPr/>
        </p:nvSpPr>
        <p:spPr>
          <a:xfrm>
            <a:off x="11497666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8" name="Shape 6"/>
          <p:cNvSpPr/>
          <p:nvPr/>
        </p:nvSpPr>
        <p:spPr>
          <a:xfrm>
            <a:off x="680314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7666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MÓDULO 06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74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Arquitectónica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análisis STRIDE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manual táctico para evaluar amenazas en el diseño de sistemas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34440" y="4206240"/>
            <a:ext cx="749808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2062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comprender los principios de seguridad en arquitecturas empresariales y aplicar el modelo STRIDE para identificar amenazas en sistemas reales.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Profesor: Ing. César Augusto Vega Fernández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 del módulo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como decisión de diseño, no como capa añadida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20240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2020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principios de seguridad arquitectónica de los controles de implementación.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953512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53512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0540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las seis categorías de STRIDE sobre un flujo concreto de un sistema real.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986784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86784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" y="4123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0873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398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Asociar a cada amenaza identificada un control de mitigación concreto y verificable.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20056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20056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" y="5157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120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431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amenazas propias de los sistemas con IA, que STRIDE por sí solo no cubre.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75320" y="1920240"/>
            <a:ext cx="3227832" cy="414223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· TALLER 5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251460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crítico del sistema del cliente, modelado con sus límites de confianza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STRIDE completa: las seis categorías evaluadas para ese flujo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 de mitigación por amenaza aplicable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 justificado para cada hallazgo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CONCEPTO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seguridad arquitectónica?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fundamental de una arquitectura resiliente y confiable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456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345643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Prevenir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sistema con mecanismos que bloqueen los vectores de entrada antes de que se usen.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069080"/>
            <a:ext cx="2999232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06908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fuerte, segmentación de red, validación de entrada.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365760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9120" y="2011680"/>
            <a:ext cx="3456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2011680"/>
            <a:ext cx="3456432" cy="54864"/>
          </a:xfrm>
          <a:prstGeom prst="rect">
            <a:avLst/>
          </a:prstGeom>
          <a:solidFill>
            <a:srgbClr val="D8863F"/>
          </a:solidFill>
          <a:ln w="12700">
            <a:solidFill>
              <a:srgbClr val="D88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D88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2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el sistema para reconocer anomalías operativas mientras ocurren.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17720" y="4069080"/>
            <a:ext cx="2999232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406908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auditoría, alertas, monitoreo de comportamiento.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09560" y="365760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92440" y="2011680"/>
            <a:ext cx="3456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2011680"/>
            <a:ext cx="3456432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3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Mitigar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 el daño cuando la amenaza ya atravesó el perímetro.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21040" y="4069080"/>
            <a:ext cx="2999232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58200" y="406908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Aislamiento, revocación de sesiones, restauración desde respaldo.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85800" y="5486400"/>
            <a:ext cx="10820095" cy="86868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8640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común: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todo en la capa 1 y nada en las otras dos. Un sistema que solo previene no sabe cuándo lo atacaron, y cuando lo descubre no tiene con qué responder. Las tres capas se diseñan juntas.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FUNDAMENTOS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cinco pilares de la confianza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un sistema seguro debe garantizar, antes de hablar de amenazas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130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5146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quien debe ver la información la ve.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3291840"/>
            <a:ext cx="2999232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329184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 y en reposo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196596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130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25146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no se altera sin autorización ni sin dejar rastro.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17720" y="3291840"/>
            <a:ext cx="2999232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329184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digitales, hashing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196596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2130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25146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responde cuando se le necesita.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21040" y="3291840"/>
            <a:ext cx="2999232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329184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Redundancia, rate limiting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411480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4279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508760" y="4251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46634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sabe quién es cada quien.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14400" y="5440680"/>
            <a:ext cx="2999232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1560" y="544068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y, cada vez más, passkeys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411480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17720" y="4279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212080" y="4251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617720" y="46634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puede hacer únicamente lo que le corresponde.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617720" y="5440680"/>
            <a:ext cx="2999232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54880" y="544068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roles, mínimo privilegio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92440" y="4114800"/>
            <a:ext cx="3410712" cy="1965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4315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PILAR TIENE SU LETRA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464515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pilares no son una lista aparte: cada categoría de STRIDE es exactamente la violación de uno de ellos. Por eso el modelo es completo y no arbitrario.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EL MODELO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STRIDE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categorías, una por cada pilar que se puede violar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17190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719072" cy="82296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2186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Spoofing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566160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Falsificar la identidad de un usuario o un sistema.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144475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74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32888" y="2011680"/>
            <a:ext cx="17190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32888" y="2011680"/>
            <a:ext cx="1719072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32888" y="20116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670048" y="32186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Tampering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2670048" y="3566160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datos en tránsito o en reposo sin autorización.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70048" y="5074920"/>
            <a:ext cx="144475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70048" y="5074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79976" y="2011680"/>
            <a:ext cx="17190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9976" y="2011680"/>
            <a:ext cx="1719072" cy="82296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79976" y="20116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4000" dirty="0"/>
          </a:p>
        </p:txBody>
      </p:sp>
      <p:sp>
        <p:nvSpPr>
          <p:cNvPr id="36" name="Text 34"/>
          <p:cNvSpPr txBox="1"/>
          <p:nvPr/>
        </p:nvSpPr>
        <p:spPr>
          <a:xfrm>
            <a:off x="4517136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32186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Repudiation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3566160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haber ejecutado una acción, sin que se pueda probar.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17136" y="5074920"/>
            <a:ext cx="144475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17136" y="5074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7064" y="2011680"/>
            <a:ext cx="17190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27064" y="2011680"/>
            <a:ext cx="1719072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27064" y="20116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4000" dirty="0"/>
          </a:p>
        </p:txBody>
      </p:sp>
      <p:sp>
        <p:nvSpPr>
          <p:cNvPr id="44" name="Text 42"/>
          <p:cNvSpPr txBox="1"/>
          <p:nvPr/>
        </p:nvSpPr>
        <p:spPr>
          <a:xfrm>
            <a:off x="6364224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32186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disclosure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364224" y="3566160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información a quien no debería verla.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64224" y="5074920"/>
            <a:ext cx="144475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64224" y="5074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74152" y="2011680"/>
            <a:ext cx="17190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74152" y="2011680"/>
            <a:ext cx="1719072" cy="82296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74152" y="20116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8211312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Denegación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211312" y="32186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Denial of service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211312" y="3566160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Interrumpir el servicio para los usuarios legítimos.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11312" y="5074920"/>
            <a:ext cx="144475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11312" y="5074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921240" y="2011680"/>
            <a:ext cx="17190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21240" y="2011680"/>
            <a:ext cx="1719072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921240" y="20116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000" dirty="0"/>
          </a:p>
        </p:txBody>
      </p:sp>
      <p:sp>
        <p:nvSpPr>
          <p:cNvPr id="60" name="Text 58"/>
          <p:cNvSpPr txBox="1"/>
          <p:nvPr/>
        </p:nvSpPr>
        <p:spPr>
          <a:xfrm>
            <a:off x="10058400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10058400" y="32186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Elevation of privilege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10058400" y="3566160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permisos superiores a los concedidos.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058400" y="5074920"/>
            <a:ext cx="144475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058400" y="5074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METODOLOGÍA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aplica STRIDE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pasos, en este orden, sobre un flujo a la vez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57400"/>
            <a:ext cx="34564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523744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Enfocar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017520"/>
            <a:ext cx="2999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un flujo o componente crítico del sistema. No se modela todo el sistema de una vez: se elige el flujo donde más duele un fallo.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526280"/>
            <a:ext cx="299923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52628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EduKit: el flujo de carga de notas.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06240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89120" y="2057400"/>
            <a:ext cx="34564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2523744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Atacar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3017520"/>
            <a:ext cx="2999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las seis categorías de STRIDE por cada punto de entrada o interacción del flujo. La pregunta es siempre: ¿cómo rompería yo esto?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17720" y="4526280"/>
            <a:ext cx="299923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452628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estudiante hacerse pasar por docente?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09560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92440" y="2057400"/>
            <a:ext cx="34564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2523744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Sistematizar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017520"/>
            <a:ext cx="2999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impacto, control de mitigación y nivel de riesgo de cada hallazgo, en una tabla que se pueda revisar después.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21040" y="4526280"/>
            <a:ext cx="2999232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58200" y="452628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amenazas y controles del entregable.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5669280"/>
            <a:ext cx="10820095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566928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embudo se estrecha a propósito: modelar amenazas de todo el sistema a la vez produce una lista larga que nadie usa. Un flujo bien analizado vale más que veinte enunciados genéricos.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CONTROLES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amenazas y controles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categorías, cada una con su respuesta de diseño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AMENAZA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DE DISEÑO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2240280"/>
            <a:ext cx="10820095" cy="621792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240280"/>
            <a:ext cx="566928" cy="6217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240280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22402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49240" y="2551176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760720" y="224028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multifactor; passkeys; identidad verificada entre servicios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2916936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916936"/>
            <a:ext cx="566928" cy="621792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2916936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29169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49240" y="3227832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760720" y="291693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digitales, hashing, integridad verificada en cada transferencia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" y="3593592"/>
            <a:ext cx="10820095" cy="621792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593592"/>
            <a:ext cx="566928" cy="621792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593592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35935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Repudio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349240" y="3904488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760720" y="359359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auditoría inmutables, sellado de tiempo, firma de transacciones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4270248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270248"/>
            <a:ext cx="566928" cy="6217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4270248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42702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349240" y="4581144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5760720" y="427024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 y en reposo; enmascaramiento de datos sensibles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4946904"/>
            <a:ext cx="10820095" cy="621792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4946904"/>
            <a:ext cx="566928" cy="621792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4946904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1463040" y="494690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Denegación de servicio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5349240" y="5257800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760720" y="494690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WAF, autoescalado, degradación controlada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85800" y="5623560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5623560"/>
            <a:ext cx="566928" cy="621792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5800" y="5623560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1463040" y="5623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 de privilegios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5349240" y="5934456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5760720" y="562356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privilegio, control de acceso por roles, revisión periódica de permisos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685800" y="635508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 por amenaza no basta si el control vive en otra capa: verificar siempre dónde se aplica y quién lo opera.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CASO BASE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táctico: plataforma EduKit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de datos con sus límites de confianza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148840"/>
            <a:ext cx="1828800" cy="566928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063240"/>
            <a:ext cx="1828800" cy="566928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1828800" cy="566928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920240"/>
            <a:ext cx="5029200" cy="3200400"/>
          </a:xfrm>
          <a:prstGeom prst="rect">
            <a:avLst/>
          </a:prstGeom>
          <a:solidFill>
            <a:srgbClr val="FAF9F4"/>
          </a:solidFill>
          <a:ln w="15875">
            <a:solidFill>
              <a:srgbClr val="B85C2E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3401568" y="1993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 DE CONFIANZA · PLATAFORMA EDUKIT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2377440"/>
            <a:ext cx="2011680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377440"/>
            <a:ext cx="2011680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Notas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3520440"/>
            <a:ext cx="2011680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3520440"/>
            <a:ext cx="2011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Pagos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566160"/>
            <a:ext cx="2011680" cy="685800"/>
          </a:xfrm>
          <a:prstGeom prst="can">
            <a:avLst/>
          </a:prstGeom>
          <a:solidFill>
            <a:srgbClr val="1627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0" y="3566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06040" y="2432304"/>
            <a:ext cx="868680" cy="219456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2606040" y="2880360"/>
            <a:ext cx="868680" cy="466344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2606040" y="3840480"/>
            <a:ext cx="868680" cy="420624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5577840" y="2761488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949440" y="3200400"/>
            <a:ext cx="0" cy="32004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577840" y="3913632"/>
            <a:ext cx="3200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78240" y="3520440"/>
            <a:ext cx="2724912" cy="77724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3520440"/>
            <a:ext cx="2724912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externa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21040" y="3913632"/>
            <a:ext cx="411480" cy="0"/>
          </a:xfrm>
          <a:prstGeom prst="line">
            <a:avLst/>
          </a:prstGeom>
          <a:noFill/>
          <a:ln w="15875">
            <a:solidFill>
              <a:srgbClr val="B85C2E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818120" y="4343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cruza el límite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778240" y="1920240"/>
            <a:ext cx="2724912" cy="14173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79408" y="2103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 DEL DFD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979408" y="23957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flecha que cruza un límite de confianza es un punto de análisis obligatorio. Ahí es donde vive la mayoría de las amenazas.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85800" y="5349240"/>
            <a:ext cx="10820095" cy="96012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534924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 4 al Módulo 6: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diagrama es el de contenedores del Taller 3 con una sola cosa añadida: el límite de confianza dibujado. No hay que empezar de cero; hay que tomar el diagrama que ya existe y trazarle la frontera.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EJEMPLO TRABAJADO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sobre el flujo «subir notas»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flujo, seis preguntas, seis respuestas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ESCENARIO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194560"/>
            <a:ext cx="10820095" cy="621792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194560"/>
            <a:ext cx="457200" cy="6217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1945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21945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estudiante hacerse pasar por docente?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1945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robada o credencial compartida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1945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para el rol docente; sesiones cortas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27080" y="219456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2871216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2871216"/>
            <a:ext cx="457200" cy="621792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287121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287121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alterar una nota en tránsito?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287121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interceptada entre portal y API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28712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obligatorio; validación en servidor, no solo en el cliente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27080" y="287121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3547872"/>
            <a:ext cx="10820095" cy="621792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3547872"/>
            <a:ext cx="457200" cy="6217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354787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298448" y="354787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docente negar que cambió una nota?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354787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auditoría no hay cómo probarlo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0" y="3547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inmutable con usuario, valor anterior y marca de tiempo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927080" y="354787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" y="4224528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4224528"/>
            <a:ext cx="457200" cy="621792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422452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1298448" y="42245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estudiante ver notas ajenas?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422452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identificador sin verificar propiedad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0" y="42245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a nivel de registro, no solo de pantalla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0927080" y="422452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5800" y="4901184"/>
            <a:ext cx="10820095" cy="621792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4901184"/>
            <a:ext cx="457200" cy="6217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5800" y="490118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1298448" y="490118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tumbar el sistema en semana de cierre?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4892040" y="49011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carga concentrado en pocas horas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772400" y="490118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Autoescalado y límite de peticiones por usuario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0927080" y="490118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5800" y="5577840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5577840"/>
            <a:ext cx="457200" cy="621792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5800" y="55778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1298448" y="55778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monitor obtener permisos de docente?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4892040" y="557784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mal configurado o permisos heredados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772400" y="55778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 y revisión de roles cada periodo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0927080" y="557784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685800" y="630936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seis amenazas requiere un atacante sofisticado: todas se explotan con un navegador y curiosidad.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PRINCIPIO ACTUAL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Trust: el perímetro ya no existe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confiar, siempre verificar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19659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antiguo asumía que lo de adentro de la red era confiable. Zero Trust elimina ese supuesto: cada petición se verifica, venga de donde venga.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15468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1546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07592" y="3246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fuerte para todo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" y="35021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servicios y agentes automatizados tienen identidad propia y verificable.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959352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6968" y="395935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07592" y="4050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07592" y="43068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identidad recibe solo los permisos que necesita, y por el tiempo que los necesita.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764024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6968" y="476402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07592" y="4855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vida corta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07592" y="51114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temporales en vez de llaves estáticas que llevan años sin rotarse.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5568696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6968" y="55686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307592" y="56601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continua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307592" y="59161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autenticar al entrar: el comportamiento se monitorea durante toda la sesión.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1965960"/>
            <a:ext cx="5102352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21762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VOLVIÓ A IMPORTAR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248716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agentes automatizados ejecutando tareas de negocio, la pregunta deja de ser quién entra a la red y pasa a ser qué puede hacer cada identidad. Un agente sin rol, sin permisos acotados y sin monitoreo es un usuario privilegiado sin supervisor.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0" y="4297680"/>
            <a:ext cx="5102352" cy="20574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29400" y="4507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PARA EL CLIENTE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482803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cuentas de servicio tiene el sistema, quién las creó, qué permisos tienen y cuándo se rotaron sus credenciales por última vez? En la mayoría de las organizaciones nadie sabe responder, y esa es exactamente la brecha.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AMENAZAS EMERGENTES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tríada letal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condiciones que, juntas, hacen explotable a cualquier agente de IA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345643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2240280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privados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92608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puede leer información sensible: historia clínica, nómina, contratos.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42232" y="27432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389120" y="201168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2011680"/>
            <a:ext cx="345643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240280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 a contenido no confiable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292608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procesa texto que viene de afuera: correos, documentos, páginas web.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7432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092440" y="2011680"/>
            <a:ext cx="34564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2011680"/>
            <a:ext cx="3456432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2240280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comunicar hacia afuera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92608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puede enviar correos, llamar APIs o escribir en sistemas externos.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4160520"/>
            <a:ext cx="10820095" cy="457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343400"/>
            <a:ext cx="6949440" cy="20116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4553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RESULTADO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86460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atacante esconde instrucciones dentro del contenido que el agente va a leer. El agente las obedece como si vinieran del usuario, consulta los datos privados y los envía hacia afuera. Nadie explotó una vulnerabilidad de código: se usó el sistema exactamente como fue diseñado.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818120" y="4343400"/>
            <a:ext cx="3685032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7A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45537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MITIGACIÓN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4864608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la tríada. Basta con quitar una de las tres condiciones: limitar los datos que el agente alcanza, aislar el contenido no confiable o restringir a dónde puede escribir.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MARCO COMPLEMENTARIO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ATLAS: STRIDE no alcanza para la IA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 de tácticas adversarias contra sistemas de IA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96012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19659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fue diseñado para sistemas deterministas. Un componente que responde distinto ante la misma entrada abre categorías de amenaza que el modelo no contempla.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10896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08960"/>
            <a:ext cx="50292" cy="74980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200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instrucciones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456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que el modelo interpreta como orden en vez de como dato.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93192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931920"/>
            <a:ext cx="50292" cy="74980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023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Envenenamiento de datos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2793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Manipular el conjunto de entrenamiento o la base de conocimiento.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75488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754880"/>
            <a:ext cx="50292" cy="74980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8463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del modelo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1023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el modelo o sus datos a partir de consultas sistemáticas.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557784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577840"/>
            <a:ext cx="50292" cy="74980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669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Evasión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59253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diseñadas para que el modelo clasifique mal deliberadamente.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1965960"/>
            <a:ext cx="51023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21762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ES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24871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conocimiento de tácticas y técnicas adversarias contra sistemas de IA y aprendizaje automático. Es más acotada que MITRE ATT&amp;CK y está diseñada para complementarla, no para reemplazarla.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0" y="4023360"/>
            <a:ext cx="5102352" cy="12344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29400" y="4206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QUÉ SIRVE EN CLASE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44988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vocabulario compartido. Sin él, los riesgos de IA se discuten con adjetivos y terminan como una casilla marcada en un checklist.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0" y="5440680"/>
            <a:ext cx="5102352" cy="9144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29400" y="5440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el sistema del cliente incluye un componente de IA, la tabla STRIDE se complementa con ATLAS. Si no, STRIDE basta.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BUENAS PRÁCTICAS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decisiones que se toman temprano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que cuestan mucho más si se toman tarde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21945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by design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263347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se implementa desde el inicio, no se agrega al final del proyecto.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1832" y="3273552"/>
            <a:ext cx="4846320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32735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poco al diseñar y muchísimo al reparar.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01168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011680"/>
            <a:ext cx="5376672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5392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1945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en profundidad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263347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capas de control, para que fallar una no signifique quedar expuesto.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65392" y="3273552"/>
            <a:ext cx="4846320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02552" y="32735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control único es suficiente.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11480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114800"/>
            <a:ext cx="537667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554480" y="42976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47365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estricta de redes, entornos y roles de usuario.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41832" y="5376672"/>
            <a:ext cx="4846320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78992" y="53766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hasta dónde llega un atacante que ya entró.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411480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4114800"/>
            <a:ext cx="5376672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2976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47365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constante y trazabilidad de los eventos críticos del sistema.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565392" y="5376672"/>
            <a:ext cx="4846320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02552" y="53766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registros no hay forma de saber qué pasó.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HERRAMIENTAS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arsenal del arquitecto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gratuitas o con licencia libre para uso académico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2560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6596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Threat Dragon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2971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WEB Y ESCRITORIO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291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modelado de amenazas respaldada por OWASP. Se dibuja el diagrama de flujo de datos y se anotan las amenazas sobre él.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" y="5029200"/>
            <a:ext cx="2194560" cy="73152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029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 para el taller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1965960"/>
            <a:ext cx="2560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196596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48456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Threat Modeling Tool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48456" y="2971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WINDOWS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648456" y="3291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histórico de STRIDE. Genera automáticamente amenazas candidatas a partir del diagrama.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48456" y="5029200"/>
            <a:ext cx="2194560" cy="73152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67328" y="5029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si el equipo trabaja en Windows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1965960"/>
            <a:ext cx="2560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196596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9944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STRIDE en hoja de cálculo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2971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409944" y="3291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seis filas del ejemplo trabajado. Sin instalación y suficiente para el entregable.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9944" y="5029200"/>
            <a:ext cx="2194560" cy="73152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28816" y="5029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segura contrarreloj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70264" y="1965960"/>
            <a:ext cx="2560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70264" y="196596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71432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con anotación de seguridad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171432" y="2971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DRAW.IO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171432" y="3291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de contenedores del Taller 3 con los límites de confianza dibujados encima.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71432" y="5029200"/>
            <a:ext cx="2194560" cy="73152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90304" y="5029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de todo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08076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no se califica. Se califica que la tabla tenga las seis categorías y que cada control sea verificable.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ACTIVIDAD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amenazas en clase · 40 minutos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equipos, sobre el sistema del cliente real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396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Dibujar la frontera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450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su diagrama de contenedores del Taller 3 y tracen encima los límites de confianza. Marquen con color toda flecha que cruce uno.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090672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90672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090672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2186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Atacar el flujo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52958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el flujo más crítico y recorran las seis categorías. Escriban el escenario, no solo el nombre de la amenaza.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169664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169664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169664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297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controles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6085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 por amenaza aplicable, y el nivel de riesgo con su justificación.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5248656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248656"/>
            <a:ext cx="1051560" cy="100584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248656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965960" y="53766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 cruzado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1965960" y="56875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Intercambien con otro equipo: ellos deben encontrar una amenaza que ustedes no vieron.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cuatro categorías en vez de seis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sin escenario: solo el nombre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genéricos tipo «usar buenas prácticas»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confianza no dibujados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6 · Seguridad Arquitectónica y STRIDE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30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arquitectónica en cuatro ideas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se diseña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148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capa que se agrega al final; se decide cuando se dibuja el sistema.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letras, no cuatro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Repudio y elevación de privilegios son las que más se olvidan y las que más aparecen.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03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está en la frontera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033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flecha que cruza un límite de confianza es un punto de análisis obligatorio.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80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cambió el mapa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480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sigue vigente, pero los sistemas con IA necesitan además ATLAS y la tríada letal.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43000" y="5394960"/>
            <a:ext cx="694944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94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Taller 5 · modelado de amenazas del sistema del cliente, con la tabla STRIDE completa.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66760" y="2148840"/>
            <a:ext cx="3136392" cy="3931920"/>
          </a:xfrm>
          <a:prstGeom prst="rect">
            <a:avLst/>
          </a:prstGeom>
          <a:solidFill>
            <a:srgbClr val="18304C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Modeling Cheat Sheet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per Element — Microsoft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— atlas.mitre.org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— fundamentos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800-207 — Zero Trust Architecture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Ing. César Augusto Vega Fernández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6 - Seguridad Arquitectónica y Análisis STRIDE</dc:title>
  <dc:subject>PptxGenJS Presentation</dc:subject>
  <dc:creator>César Augusto Vega Fernández</dc:creator>
  <cp:lastModifiedBy>César Augusto Vega Fernández</cp:lastModifiedBy>
  <cp:revision>1</cp:revision>
  <dcterms:created xsi:type="dcterms:W3CDTF">2026-08-29T02:40:36Z</dcterms:created>
  <dcterms:modified xsi:type="dcterms:W3CDTF">2026-08-29T02:40:36Z</dcterms:modified>
</cp:coreProperties>
</file>